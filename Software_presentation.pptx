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1"/>
  </p:sldMasterIdLst>
  <p:notesMasterIdLst>
    <p:notesMasterId r:id="rId11"/>
  </p:notesMasterIdLst>
  <p:sldIdLst>
    <p:sldId id="256" r:id="rId2"/>
    <p:sldId id="257" r:id="rId3"/>
    <p:sldId id="277" r:id="rId4"/>
    <p:sldId id="294" r:id="rId5"/>
    <p:sldId id="295" r:id="rId6"/>
    <p:sldId id="296" r:id="rId7"/>
    <p:sldId id="297" r:id="rId8"/>
    <p:sldId id="298" r:id="rId9"/>
    <p:sldId id="299" r:id="rId10"/>
  </p:sldIdLst>
  <p:sldSz cx="18288000" cy="10287000"/>
  <p:notesSz cx="6858000" cy="9144000"/>
  <p:embeddedFontLst>
    <p:embeddedFont>
      <p:font typeface="DM Serif Display" pitchFamily="2" charset="0"/>
      <p:regular r:id="rId12"/>
      <p: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32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460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7BF38916-A3DF-EEAC-B0B2-3E454C967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:notes">
            <a:extLst>
              <a:ext uri="{FF2B5EF4-FFF2-40B4-BE49-F238E27FC236}">
                <a16:creationId xmlns:a16="http://schemas.microsoft.com/office/drawing/2014/main" id="{04712C00-BF20-11D0-8BFB-98CB469E8A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5:notes">
            <a:extLst>
              <a:ext uri="{FF2B5EF4-FFF2-40B4-BE49-F238E27FC236}">
                <a16:creationId xmlns:a16="http://schemas.microsoft.com/office/drawing/2014/main" id="{2178BB92-07B8-9B63-AEFD-F6B6232223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7840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AE78454E-28B5-D7F5-B6D3-833CE4E33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:notes">
            <a:extLst>
              <a:ext uri="{FF2B5EF4-FFF2-40B4-BE49-F238E27FC236}">
                <a16:creationId xmlns:a16="http://schemas.microsoft.com/office/drawing/2014/main" id="{0FF57EB9-C423-5B54-F890-55A11DBB44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5:notes">
            <a:extLst>
              <a:ext uri="{FF2B5EF4-FFF2-40B4-BE49-F238E27FC236}">
                <a16:creationId xmlns:a16="http://schemas.microsoft.com/office/drawing/2014/main" id="{AAF2DFEB-81D4-9BDD-E08B-E36AA7A028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3639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8A5E580B-325B-602A-38DF-41BE8EFB1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:notes">
            <a:extLst>
              <a:ext uri="{FF2B5EF4-FFF2-40B4-BE49-F238E27FC236}">
                <a16:creationId xmlns:a16="http://schemas.microsoft.com/office/drawing/2014/main" id="{5A5F2E29-AC78-4F8A-F4AC-C347B008F3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5:notes">
            <a:extLst>
              <a:ext uri="{FF2B5EF4-FFF2-40B4-BE49-F238E27FC236}">
                <a16:creationId xmlns:a16="http://schemas.microsoft.com/office/drawing/2014/main" id="{6CE4B348-54CD-9D76-2BE4-1B668437BC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13268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6602F88D-53CC-D5CB-DCC6-697258E5F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:notes">
            <a:extLst>
              <a:ext uri="{FF2B5EF4-FFF2-40B4-BE49-F238E27FC236}">
                <a16:creationId xmlns:a16="http://schemas.microsoft.com/office/drawing/2014/main" id="{CFA13724-3EFD-DCB4-C09C-BAD1E035FF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5:notes">
            <a:extLst>
              <a:ext uri="{FF2B5EF4-FFF2-40B4-BE49-F238E27FC236}">
                <a16:creationId xmlns:a16="http://schemas.microsoft.com/office/drawing/2014/main" id="{602C91D5-A413-4A1D-C599-FC6DADF476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80203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12B4C7F1-F8F2-FD3E-2330-F569F22DA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:notes">
            <a:extLst>
              <a:ext uri="{FF2B5EF4-FFF2-40B4-BE49-F238E27FC236}">
                <a16:creationId xmlns:a16="http://schemas.microsoft.com/office/drawing/2014/main" id="{23DA4BD3-576B-D74F-E31D-42B2112F57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5:notes">
            <a:extLst>
              <a:ext uri="{FF2B5EF4-FFF2-40B4-BE49-F238E27FC236}">
                <a16:creationId xmlns:a16="http://schemas.microsoft.com/office/drawing/2014/main" id="{08707D73-F85A-B167-A57F-9685DE3F72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72068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695408C3-E575-8460-8D14-AC2637641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:notes">
            <a:extLst>
              <a:ext uri="{FF2B5EF4-FFF2-40B4-BE49-F238E27FC236}">
                <a16:creationId xmlns:a16="http://schemas.microsoft.com/office/drawing/2014/main" id="{A697378F-5226-9254-D8D2-41675F0C44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5:notes">
            <a:extLst>
              <a:ext uri="{FF2B5EF4-FFF2-40B4-BE49-F238E27FC236}">
                <a16:creationId xmlns:a16="http://schemas.microsoft.com/office/drawing/2014/main" id="{6F36C0E9-EF46-D565-3538-520F538B74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64112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1D59B154-873C-9362-586E-8C53DC45A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:notes">
            <a:extLst>
              <a:ext uri="{FF2B5EF4-FFF2-40B4-BE49-F238E27FC236}">
                <a16:creationId xmlns:a16="http://schemas.microsoft.com/office/drawing/2014/main" id="{6823A074-3116-258D-5F0A-0FF60CEAF9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5:notes">
            <a:extLst>
              <a:ext uri="{FF2B5EF4-FFF2-40B4-BE49-F238E27FC236}">
                <a16:creationId xmlns:a16="http://schemas.microsoft.com/office/drawing/2014/main" id="{564BC15C-5002-D06B-3448-DA4ACF7BD6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9367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 type="title">
  <p:cSld name="TITLE">
    <p:bg>
      <p:bgPr>
        <a:solidFill>
          <a:srgbClr val="C0322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One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>
            <a:spLocks noGrp="1"/>
          </p:cNvSpPr>
          <p:nvPr>
            <p:ph type="pic" idx="2"/>
          </p:nvPr>
        </p:nvSpPr>
        <p:spPr>
          <a:xfrm>
            <a:off x="9164850" y="993300"/>
            <a:ext cx="8073600" cy="8300400"/>
          </a:xfrm>
          <a:prstGeom prst="rect">
            <a:avLst/>
          </a:prstGeom>
          <a:noFill/>
          <a:ln w="19050" cap="flat" cmpd="sng">
            <a:solidFill>
              <a:srgbClr val="C0322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Two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>
            <a:spLocks noGrp="1"/>
          </p:cNvSpPr>
          <p:nvPr>
            <p:ph type="pic" idx="2"/>
          </p:nvPr>
        </p:nvSpPr>
        <p:spPr>
          <a:xfrm>
            <a:off x="1015500" y="1022400"/>
            <a:ext cx="8141700" cy="4127400"/>
          </a:xfrm>
          <a:prstGeom prst="rect">
            <a:avLst/>
          </a:prstGeom>
          <a:noFill/>
          <a:ln w="19050" cap="flat" cmpd="sng">
            <a:solidFill>
              <a:srgbClr val="C0322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" name="Google Shape;20;p5"/>
          <p:cNvSpPr>
            <a:spLocks noGrp="1"/>
          </p:cNvSpPr>
          <p:nvPr>
            <p:ph type="pic" idx="3"/>
          </p:nvPr>
        </p:nvSpPr>
        <p:spPr>
          <a:xfrm>
            <a:off x="1015500" y="5119100"/>
            <a:ext cx="8141700" cy="4127400"/>
          </a:xfrm>
          <a:prstGeom prst="rect">
            <a:avLst/>
          </a:prstGeom>
          <a:noFill/>
          <a:ln w="19050" cap="flat" cmpd="sng">
            <a:solidFill>
              <a:srgbClr val="C0322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allery" type="twoObj">
  <p:cSld name="TWO_OBJEC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>
            <a:spLocks noGrp="1"/>
          </p:cNvSpPr>
          <p:nvPr>
            <p:ph type="pic" idx="2"/>
          </p:nvPr>
        </p:nvSpPr>
        <p:spPr>
          <a:xfrm>
            <a:off x="1015500" y="5118388"/>
            <a:ext cx="3506400" cy="4127400"/>
          </a:xfrm>
          <a:prstGeom prst="rect">
            <a:avLst/>
          </a:prstGeom>
          <a:noFill/>
          <a:ln w="19050" cap="flat" cmpd="sng">
            <a:solidFill>
              <a:srgbClr val="C0322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" name="Google Shape;23;p6"/>
          <p:cNvSpPr>
            <a:spLocks noGrp="1"/>
          </p:cNvSpPr>
          <p:nvPr>
            <p:ph type="pic" idx="3"/>
          </p:nvPr>
        </p:nvSpPr>
        <p:spPr>
          <a:xfrm>
            <a:off x="4498625" y="5111500"/>
            <a:ext cx="7599900" cy="4127400"/>
          </a:xfrm>
          <a:prstGeom prst="rect">
            <a:avLst/>
          </a:prstGeom>
          <a:noFill/>
          <a:ln w="19050" cap="flat" cmpd="sng">
            <a:solidFill>
              <a:srgbClr val="C0322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" name="Google Shape;24;p6"/>
          <p:cNvSpPr>
            <a:spLocks noGrp="1"/>
          </p:cNvSpPr>
          <p:nvPr>
            <p:ph type="pic" idx="4"/>
          </p:nvPr>
        </p:nvSpPr>
        <p:spPr>
          <a:xfrm>
            <a:off x="12121825" y="5111500"/>
            <a:ext cx="5142000" cy="4127400"/>
          </a:xfrm>
          <a:prstGeom prst="rect">
            <a:avLst/>
          </a:prstGeom>
          <a:noFill/>
          <a:ln w="19050" cap="flat" cmpd="sng">
            <a:solidFill>
              <a:srgbClr val="C0322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" name="Google Shape;25;p6"/>
          <p:cNvSpPr>
            <a:spLocks noGrp="1"/>
          </p:cNvSpPr>
          <p:nvPr>
            <p:ph type="pic" idx="5"/>
          </p:nvPr>
        </p:nvSpPr>
        <p:spPr>
          <a:xfrm>
            <a:off x="1015500" y="1022400"/>
            <a:ext cx="5726100" cy="4127400"/>
          </a:xfrm>
          <a:prstGeom prst="rect">
            <a:avLst/>
          </a:prstGeom>
          <a:noFill/>
          <a:ln w="19050" cap="flat" cmpd="sng">
            <a:solidFill>
              <a:srgbClr val="C0322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" name="Google Shape;26;p6"/>
          <p:cNvSpPr>
            <a:spLocks noGrp="1"/>
          </p:cNvSpPr>
          <p:nvPr>
            <p:ph type="pic" idx="6"/>
          </p:nvPr>
        </p:nvSpPr>
        <p:spPr>
          <a:xfrm>
            <a:off x="6754700" y="1022400"/>
            <a:ext cx="7599900" cy="4127400"/>
          </a:xfrm>
          <a:prstGeom prst="rect">
            <a:avLst/>
          </a:prstGeom>
          <a:noFill/>
          <a:ln w="19050" cap="flat" cmpd="sng">
            <a:solidFill>
              <a:srgbClr val="C0322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p6"/>
          <p:cNvSpPr>
            <a:spLocks noGrp="1"/>
          </p:cNvSpPr>
          <p:nvPr>
            <p:ph type="pic" idx="7"/>
          </p:nvPr>
        </p:nvSpPr>
        <p:spPr>
          <a:xfrm>
            <a:off x="13753000" y="1022400"/>
            <a:ext cx="3506400" cy="4127400"/>
          </a:xfrm>
          <a:prstGeom prst="rect">
            <a:avLst/>
          </a:prstGeom>
          <a:noFill/>
          <a:ln w="19050" cap="flat" cmpd="sng">
            <a:solidFill>
              <a:srgbClr val="C0322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9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C03221"/>
              </a:buClr>
              <a:buSzPts val="4400"/>
              <a:buFont typeface="DM Serif Display"/>
              <a:buNone/>
              <a:defRPr sz="4400" i="0" u="none" strike="noStrike" cap="none">
                <a:solidFill>
                  <a:srgbClr val="C0322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03221"/>
              </a:buClr>
              <a:buSzPts val="1400"/>
              <a:buFont typeface="DM Serif Display"/>
              <a:buNone/>
              <a:defRPr sz="1800">
                <a:solidFill>
                  <a:srgbClr val="C0322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03221"/>
              </a:buClr>
              <a:buSzPts val="1400"/>
              <a:buFont typeface="DM Serif Display"/>
              <a:buNone/>
              <a:defRPr sz="1800">
                <a:solidFill>
                  <a:srgbClr val="C0322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03221"/>
              </a:buClr>
              <a:buSzPts val="1400"/>
              <a:buFont typeface="DM Serif Display"/>
              <a:buNone/>
              <a:defRPr sz="1800">
                <a:solidFill>
                  <a:srgbClr val="C0322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03221"/>
              </a:buClr>
              <a:buSzPts val="1400"/>
              <a:buFont typeface="DM Serif Display"/>
              <a:buNone/>
              <a:defRPr sz="1800">
                <a:solidFill>
                  <a:srgbClr val="C0322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03221"/>
              </a:buClr>
              <a:buSzPts val="1400"/>
              <a:buFont typeface="DM Serif Display"/>
              <a:buNone/>
              <a:defRPr sz="1800">
                <a:solidFill>
                  <a:srgbClr val="C0322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03221"/>
              </a:buClr>
              <a:buSzPts val="1400"/>
              <a:buFont typeface="DM Serif Display"/>
              <a:buNone/>
              <a:defRPr sz="1800">
                <a:solidFill>
                  <a:srgbClr val="C0322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03221"/>
              </a:buClr>
              <a:buSzPts val="1400"/>
              <a:buFont typeface="DM Serif Display"/>
              <a:buNone/>
              <a:defRPr sz="1800">
                <a:solidFill>
                  <a:srgbClr val="C0322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03221"/>
              </a:buClr>
              <a:buSzPts val="1400"/>
              <a:buFont typeface="DM Serif Display"/>
              <a:buNone/>
              <a:defRPr sz="1800">
                <a:solidFill>
                  <a:srgbClr val="C0322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rgbClr val="C03221"/>
              </a:buClr>
              <a:buSzPts val="3200"/>
              <a:buFont typeface="DM Serif Display"/>
              <a:buChar char="•"/>
              <a:defRPr sz="3200" i="0" u="none" strike="noStrike" cap="none">
                <a:solidFill>
                  <a:srgbClr val="C0322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rgbClr val="C03221"/>
              </a:buClr>
              <a:buSzPts val="2800"/>
              <a:buFont typeface="DM Serif Display"/>
              <a:buChar char="–"/>
              <a:defRPr sz="2800" i="0" u="none" strike="noStrike" cap="none">
                <a:solidFill>
                  <a:srgbClr val="C0322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C03221"/>
              </a:buClr>
              <a:buSzPts val="2400"/>
              <a:buFont typeface="DM Serif Display"/>
              <a:buChar char="•"/>
              <a:defRPr sz="2400" i="0" u="none" strike="noStrike" cap="none">
                <a:solidFill>
                  <a:srgbClr val="C0322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C03221"/>
              </a:buClr>
              <a:buSzPts val="2000"/>
              <a:buFont typeface="DM Serif Display"/>
              <a:buChar char="–"/>
              <a:defRPr sz="2000" i="0" u="none" strike="noStrike" cap="none">
                <a:solidFill>
                  <a:srgbClr val="C0322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C03221"/>
              </a:buClr>
              <a:buSzPts val="2000"/>
              <a:buFont typeface="DM Serif Display"/>
              <a:buChar char="»"/>
              <a:defRPr sz="2000" i="0" u="none" strike="noStrike" cap="none">
                <a:solidFill>
                  <a:srgbClr val="C0322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C03221"/>
              </a:buClr>
              <a:buSzPts val="2000"/>
              <a:buFont typeface="DM Serif Display"/>
              <a:buChar char="•"/>
              <a:defRPr sz="2000" i="0" u="none" strike="noStrike" cap="none">
                <a:solidFill>
                  <a:srgbClr val="C0322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C03221"/>
              </a:buClr>
              <a:buSzPts val="2000"/>
              <a:buFont typeface="DM Serif Display"/>
              <a:buChar char="•"/>
              <a:defRPr sz="2000" i="0" u="none" strike="noStrike" cap="none">
                <a:solidFill>
                  <a:srgbClr val="C0322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C03221"/>
              </a:buClr>
              <a:buSzPts val="2000"/>
              <a:buFont typeface="DM Serif Display"/>
              <a:buChar char="•"/>
              <a:defRPr sz="2000" i="0" u="none" strike="noStrike" cap="none">
                <a:solidFill>
                  <a:srgbClr val="C0322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C03221"/>
              </a:buClr>
              <a:buSzPts val="2000"/>
              <a:buFont typeface="DM Serif Display"/>
              <a:buChar char="•"/>
              <a:defRPr sz="2000" i="0" u="none" strike="noStrike" cap="none">
                <a:solidFill>
                  <a:srgbClr val="C0322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aseen-ghani/DSC_672_jenkins_demo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9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Google Shape;32;p7"/>
          <p:cNvCxnSpPr/>
          <p:nvPr/>
        </p:nvCxnSpPr>
        <p:spPr>
          <a:xfrm>
            <a:off x="1028700" y="9258300"/>
            <a:ext cx="16230600" cy="0"/>
          </a:xfrm>
          <a:prstGeom prst="straightConnector1">
            <a:avLst/>
          </a:prstGeom>
          <a:noFill/>
          <a:ln w="38100" cap="flat" cmpd="sng">
            <a:solidFill>
              <a:srgbClr val="C0322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" name="Google Shape;33;p7"/>
          <p:cNvSpPr txBox="1"/>
          <p:nvPr/>
        </p:nvSpPr>
        <p:spPr>
          <a:xfrm>
            <a:off x="1028700" y="2251860"/>
            <a:ext cx="8442304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dirty="0" err="1">
                <a:solidFill>
                  <a:srgbClr val="C03221"/>
                </a:solidFill>
                <a:latin typeface="DM Serif Display" pitchFamily="2" charset="0"/>
                <a:cs typeface="Times New Roman" panose="02020603050405020304" pitchFamily="18" charset="0"/>
              </a:rPr>
              <a:t>Softare</a:t>
            </a:r>
            <a:r>
              <a:rPr lang="en-US" sz="6000" dirty="0">
                <a:solidFill>
                  <a:srgbClr val="C03221"/>
                </a:solidFill>
                <a:latin typeface="DM Serif Display" pitchFamily="2" charset="0"/>
                <a:cs typeface="Times New Roman" panose="02020603050405020304" pitchFamily="18" charset="0"/>
              </a:rPr>
              <a:t> </a:t>
            </a:r>
            <a:br>
              <a:rPr lang="en-US" sz="6000" dirty="0">
                <a:solidFill>
                  <a:srgbClr val="C03221"/>
                </a:solidFill>
                <a:latin typeface="DM Serif Display" pitchFamily="2" charset="0"/>
                <a:cs typeface="Times New Roman" panose="02020603050405020304" pitchFamily="18" charset="0"/>
              </a:rPr>
            </a:br>
            <a:r>
              <a:rPr lang="en-US" sz="6000" dirty="0">
                <a:solidFill>
                  <a:srgbClr val="C03221"/>
                </a:solidFill>
                <a:latin typeface="DM Serif Display" pitchFamily="2" charset="0"/>
                <a:cs typeface="Times New Roman" panose="02020603050405020304" pitchFamily="18" charset="0"/>
              </a:rPr>
              <a:t>Presentation:</a:t>
            </a:r>
            <a:br>
              <a:rPr lang="en-US" sz="6000" dirty="0">
                <a:solidFill>
                  <a:srgbClr val="C03221"/>
                </a:solidFill>
                <a:latin typeface="DM Serif Display" pitchFamily="2" charset="0"/>
                <a:cs typeface="Times New Roman" panose="02020603050405020304" pitchFamily="18" charset="0"/>
              </a:rPr>
            </a:br>
            <a:r>
              <a:rPr lang="en-US" sz="6000" dirty="0">
                <a:solidFill>
                  <a:srgbClr val="C03221"/>
                </a:solidFill>
                <a:latin typeface="DM Serif Display" pitchFamily="2" charset="0"/>
                <a:cs typeface="Times New Roman" panose="02020603050405020304" pitchFamily="18" charset="0"/>
              </a:rPr>
              <a:t>Jenkins</a:t>
            </a:r>
            <a:endParaRPr lang="en-US" sz="1600" dirty="0">
              <a:solidFill>
                <a:srgbClr val="C03221"/>
              </a:solidFill>
              <a:latin typeface="DM Serif Display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23E320-34FA-6105-FB1A-59F9B3E249B5}"/>
              </a:ext>
            </a:extLst>
          </p:cNvPr>
          <p:cNvSpPr txBox="1"/>
          <p:nvPr/>
        </p:nvSpPr>
        <p:spPr>
          <a:xfrm>
            <a:off x="956789" y="6758082"/>
            <a:ext cx="71456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3221"/>
                </a:solidFill>
                <a:latin typeface="DM Serif Display" pitchFamily="2" charset="0"/>
                <a:cs typeface="Times New Roman" panose="02020603050405020304" pitchFamily="18" charset="0"/>
              </a:rPr>
              <a:t>Presented by Yaseen Ghani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9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/>
        </p:nvSpPr>
        <p:spPr>
          <a:xfrm>
            <a:off x="1028700" y="3150310"/>
            <a:ext cx="16230600" cy="609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14400" marR="0" lvl="0" indent="-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400" b="0" i="0" u="none" strike="noStrike" cap="none" dirty="0">
                <a:solidFill>
                  <a:srgbClr val="C0322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Open-source automation server.</a:t>
            </a:r>
          </a:p>
          <a:p>
            <a:pPr marL="914400" marR="0" lvl="0" indent="-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400" b="0" i="0" u="none" strike="noStrike" cap="none" dirty="0">
                <a:solidFill>
                  <a:srgbClr val="C0322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Helps automate building, testing, and deploying code.</a:t>
            </a:r>
          </a:p>
          <a:p>
            <a:pPr marL="914400" marR="0" lvl="0" indent="-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400" b="0" i="0" u="none" strike="noStrike" cap="none" dirty="0">
                <a:solidFill>
                  <a:srgbClr val="C0322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Supports continuous integration (CI) and continuous delivery (CD) processes.</a:t>
            </a:r>
          </a:p>
          <a:p>
            <a:pPr marL="914400" marR="0" lvl="0" indent="-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400" b="0" i="0" u="none" strike="noStrike" cap="none" dirty="0">
                <a:solidFill>
                  <a:srgbClr val="C0322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Works with many programming languages, including Python.</a:t>
            </a:r>
          </a:p>
          <a:p>
            <a:pPr marL="914400" marR="0" lvl="0" indent="-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400" b="0" i="0" u="none" strike="noStrike" cap="none" dirty="0">
                <a:solidFill>
                  <a:srgbClr val="C0322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Helps detect issues early and speeds up development cycles.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6C3E2F-EDD3-7027-7260-DAFA70549509}"/>
              </a:ext>
            </a:extLst>
          </p:cNvPr>
          <p:cNvSpPr txBox="1"/>
          <p:nvPr/>
        </p:nvSpPr>
        <p:spPr>
          <a:xfrm>
            <a:off x="1028700" y="1016600"/>
            <a:ext cx="83846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C03221"/>
                </a:solidFill>
                <a:latin typeface="DM Serif Display"/>
                <a:sym typeface="DM Serif Display"/>
              </a:rPr>
              <a:t>What is Jenkins?</a:t>
            </a:r>
            <a:endParaRPr lang="en-US" sz="7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1D1610A7-019B-55FE-AE3D-1C8434292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>
            <a:extLst>
              <a:ext uri="{FF2B5EF4-FFF2-40B4-BE49-F238E27FC236}">
                <a16:creationId xmlns:a16="http://schemas.microsoft.com/office/drawing/2014/main" id="{68E309FF-6161-978F-2A29-4584518FAAF5}"/>
              </a:ext>
            </a:extLst>
          </p:cNvPr>
          <p:cNvSpPr txBox="1"/>
          <p:nvPr/>
        </p:nvSpPr>
        <p:spPr>
          <a:xfrm>
            <a:off x="1028700" y="1455604"/>
            <a:ext cx="74622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u="none" strike="noStrike" cap="none" dirty="0">
                <a:solidFill>
                  <a:srgbClr val="C0322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What is CICD?</a:t>
            </a:r>
            <a:endParaRPr sz="2000" dirty="0"/>
          </a:p>
        </p:txBody>
      </p:sp>
      <p:sp>
        <p:nvSpPr>
          <p:cNvPr id="67" name="Google Shape;67;p11">
            <a:extLst>
              <a:ext uri="{FF2B5EF4-FFF2-40B4-BE49-F238E27FC236}">
                <a16:creationId xmlns:a16="http://schemas.microsoft.com/office/drawing/2014/main" id="{1AF17E1A-B0BA-B064-0278-02FBD5D85FE7}"/>
              </a:ext>
            </a:extLst>
          </p:cNvPr>
          <p:cNvSpPr txBox="1"/>
          <p:nvPr/>
        </p:nvSpPr>
        <p:spPr>
          <a:xfrm>
            <a:off x="1028700" y="3266083"/>
            <a:ext cx="14352598" cy="581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marR="0" lvl="0" indent="-571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3221"/>
                </a:solidFill>
                <a:latin typeface="DM Serif Display"/>
                <a:sym typeface="DM Serif Display"/>
              </a:rPr>
              <a:t>Stands for Continuous Integration and Continuous </a:t>
            </a:r>
            <a:r>
              <a:rPr lang="en-US" sz="3600" dirty="0" err="1">
                <a:solidFill>
                  <a:srgbClr val="C03221"/>
                </a:solidFill>
                <a:latin typeface="DM Serif Display"/>
                <a:sym typeface="DM Serif Display"/>
              </a:rPr>
              <a:t>Deployement</a:t>
            </a:r>
            <a:endParaRPr lang="en-US" sz="3600" dirty="0">
              <a:solidFill>
                <a:srgbClr val="C03221"/>
              </a:solidFill>
              <a:latin typeface="DM Serif Display"/>
              <a:sym typeface="DM Serif Display"/>
            </a:endParaRPr>
          </a:p>
          <a:p>
            <a:pPr marL="571500" marR="0" lvl="0" indent="-571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3221"/>
                </a:solidFill>
                <a:latin typeface="DM Serif Display"/>
                <a:sym typeface="DM Serif Display"/>
              </a:rPr>
              <a:t>Continuous Integration (CI): Automatically tests and integrates new code changes into a shared repository.</a:t>
            </a:r>
          </a:p>
          <a:p>
            <a:pPr marL="571500" marR="0" lvl="0" indent="-571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3221"/>
                </a:solidFill>
                <a:latin typeface="DM Serif Display"/>
                <a:sym typeface="DM Serif Display"/>
              </a:rPr>
              <a:t>Continuous Deployment (CD): Automatically deploys code to production without manual steps as well as passing test cases.</a:t>
            </a:r>
          </a:p>
          <a:p>
            <a:pPr marL="571500" marR="0" lvl="0" indent="-571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3221"/>
                </a:solidFill>
                <a:latin typeface="DM Serif Display"/>
                <a:sym typeface="DM Serif Display"/>
              </a:rPr>
              <a:t>Improves code quality, reduces bugs, and speeds up release cycles.</a:t>
            </a:r>
          </a:p>
          <a:p>
            <a:pPr marL="571500" marR="0" lvl="0" indent="-571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3221"/>
                </a:solidFill>
                <a:latin typeface="DM Serif Display"/>
                <a:sym typeface="DM Serif Display"/>
              </a:rPr>
              <a:t>Essential for modern DevOps and agile development practices.</a:t>
            </a:r>
          </a:p>
        </p:txBody>
      </p:sp>
    </p:spTree>
    <p:extLst>
      <p:ext uri="{BB962C8B-B14F-4D97-AF65-F5344CB8AC3E}">
        <p14:creationId xmlns:p14="http://schemas.microsoft.com/office/powerpoint/2010/main" val="2902393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7F0F66C1-F380-6995-8DC1-7A17A1E63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>
            <a:extLst>
              <a:ext uri="{FF2B5EF4-FFF2-40B4-BE49-F238E27FC236}">
                <a16:creationId xmlns:a16="http://schemas.microsoft.com/office/drawing/2014/main" id="{A23A4E1A-15C0-8510-D2D6-F4EA61330028}"/>
              </a:ext>
            </a:extLst>
          </p:cNvPr>
          <p:cNvSpPr txBox="1"/>
          <p:nvPr/>
        </p:nvSpPr>
        <p:spPr>
          <a:xfrm>
            <a:off x="1028700" y="1455604"/>
            <a:ext cx="74622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u="none" strike="noStrike" cap="none" dirty="0" err="1">
                <a:solidFill>
                  <a:srgbClr val="C0322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Prerequsites</a:t>
            </a:r>
            <a:endParaRPr sz="2000" dirty="0"/>
          </a:p>
        </p:txBody>
      </p:sp>
      <p:sp>
        <p:nvSpPr>
          <p:cNvPr id="67" name="Google Shape;67;p11">
            <a:extLst>
              <a:ext uri="{FF2B5EF4-FFF2-40B4-BE49-F238E27FC236}">
                <a16:creationId xmlns:a16="http://schemas.microsoft.com/office/drawing/2014/main" id="{3D2E0A5F-89B9-8E95-62F9-EA59D49248AC}"/>
              </a:ext>
            </a:extLst>
          </p:cNvPr>
          <p:cNvSpPr txBox="1"/>
          <p:nvPr/>
        </p:nvSpPr>
        <p:spPr>
          <a:xfrm>
            <a:off x="1028700" y="3266083"/>
            <a:ext cx="14352598" cy="498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42950" marR="0" lvl="0" indent="-742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3221"/>
                </a:solidFill>
                <a:latin typeface="DM Serif Display"/>
                <a:sym typeface="DM Serif Display"/>
              </a:rPr>
              <a:t>Docker </a:t>
            </a:r>
          </a:p>
          <a:p>
            <a:pPr marL="742950" marR="0" lvl="0" indent="-742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3221"/>
                </a:solidFill>
                <a:latin typeface="DM Serif Display"/>
                <a:sym typeface="DM Serif Display"/>
              </a:rPr>
              <a:t>Linux commands </a:t>
            </a:r>
          </a:p>
          <a:p>
            <a:pPr marL="742950" marR="0" lvl="0" indent="-742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3221"/>
                </a:solidFill>
                <a:latin typeface="DM Serif Display"/>
                <a:sym typeface="DM Serif Display"/>
              </a:rPr>
              <a:t>Python</a:t>
            </a:r>
          </a:p>
          <a:p>
            <a:pPr marL="742950" marR="0" lvl="0" indent="-742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3221"/>
                </a:solidFill>
                <a:latin typeface="DM Serif Display"/>
                <a:sym typeface="DM Serif Display"/>
              </a:rPr>
              <a:t>Json/</a:t>
            </a:r>
            <a:r>
              <a:rPr lang="en-US" sz="3600" dirty="0" err="1">
                <a:solidFill>
                  <a:srgbClr val="C03221"/>
                </a:solidFill>
                <a:latin typeface="DM Serif Display"/>
                <a:sym typeface="DM Serif Display"/>
              </a:rPr>
              <a:t>Yaml</a:t>
            </a:r>
            <a:endParaRPr lang="en-US" sz="3600" dirty="0">
              <a:solidFill>
                <a:srgbClr val="C03221"/>
              </a:solidFill>
              <a:latin typeface="DM Serif Display"/>
              <a:sym typeface="DM Serif Display"/>
            </a:endParaRPr>
          </a:p>
          <a:p>
            <a:pPr marL="742950" marR="0" lvl="0" indent="-742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3221"/>
                </a:solidFill>
                <a:latin typeface="DM Serif Display"/>
                <a:sym typeface="DM Serif Display"/>
              </a:rPr>
              <a:t>Shell/Bash commands</a:t>
            </a:r>
          </a:p>
          <a:p>
            <a:pPr marL="742950" marR="0" lvl="0" indent="-742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3600" dirty="0">
              <a:solidFill>
                <a:srgbClr val="C03221"/>
              </a:solidFill>
              <a:latin typeface="DM Serif Display"/>
              <a:sym typeface="DM Serif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917096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DD8D952F-84F4-A923-45DE-321624A6F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>
            <a:extLst>
              <a:ext uri="{FF2B5EF4-FFF2-40B4-BE49-F238E27FC236}">
                <a16:creationId xmlns:a16="http://schemas.microsoft.com/office/drawing/2014/main" id="{959CEA31-A2A7-E887-B56B-CBB21415B0FF}"/>
              </a:ext>
            </a:extLst>
          </p:cNvPr>
          <p:cNvSpPr txBox="1"/>
          <p:nvPr/>
        </p:nvSpPr>
        <p:spPr>
          <a:xfrm>
            <a:off x="1028700" y="1455604"/>
            <a:ext cx="12612144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solidFill>
                  <a:srgbClr val="C03221"/>
                </a:solidFill>
                <a:latin typeface="DM Serif Display"/>
                <a:sym typeface="DM Serif Display"/>
              </a:rPr>
              <a:t>Jenkins Architecture</a:t>
            </a:r>
            <a:endParaRPr sz="2000" dirty="0"/>
          </a:p>
        </p:txBody>
      </p:sp>
      <p:pic>
        <p:nvPicPr>
          <p:cNvPr id="1026" name="Picture 2" descr="GitHub Logo and symbol, meaning ...">
            <a:extLst>
              <a:ext uri="{FF2B5EF4-FFF2-40B4-BE49-F238E27FC236}">
                <a16:creationId xmlns:a16="http://schemas.microsoft.com/office/drawing/2014/main" id="{C0D1D236-E489-1479-16F0-69550ECE0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9570" y="2809240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ED056D5-D9A4-E4D4-AD4E-4C22D4D807FC}"/>
              </a:ext>
            </a:extLst>
          </p:cNvPr>
          <p:cNvSpPr txBox="1"/>
          <p:nvPr/>
        </p:nvSpPr>
        <p:spPr>
          <a:xfrm>
            <a:off x="4663440" y="3437669"/>
            <a:ext cx="2296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Jenkins</a:t>
            </a:r>
          </a:p>
        </p:txBody>
      </p:sp>
      <p:pic>
        <p:nvPicPr>
          <p:cNvPr id="1028" name="Picture 4" descr="Logo, Icon, and Brand Guidelines | Docker">
            <a:extLst>
              <a:ext uri="{FF2B5EF4-FFF2-40B4-BE49-F238E27FC236}">
                <a16:creationId xmlns:a16="http://schemas.microsoft.com/office/drawing/2014/main" id="{2B07147F-EF91-28C6-4644-EFCDD39A0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7353" y="5302779"/>
            <a:ext cx="5302567" cy="3528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21EE58A-CD31-AF23-EE8E-7FCE443A3632}"/>
              </a:ext>
            </a:extLst>
          </p:cNvPr>
          <p:cNvCxnSpPr>
            <a:cxnSpLocks/>
            <a:stCxn id="2" idx="3"/>
            <a:endCxn id="1026" idx="1"/>
          </p:cNvCxnSpPr>
          <p:nvPr/>
        </p:nvCxnSpPr>
        <p:spPr>
          <a:xfrm flipV="1">
            <a:off x="6959600" y="3609340"/>
            <a:ext cx="4839970" cy="2130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3A4E0B4-A67E-B054-A1FD-8C2ACCC332FB}"/>
              </a:ext>
            </a:extLst>
          </p:cNvPr>
          <p:cNvCxnSpPr>
            <a:stCxn id="1028" idx="0"/>
          </p:cNvCxnSpPr>
          <p:nvPr/>
        </p:nvCxnSpPr>
        <p:spPr>
          <a:xfrm flipV="1">
            <a:off x="5598637" y="4207110"/>
            <a:ext cx="80803" cy="109566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4590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EE45AF37-F37C-A314-560B-0C0A7C36D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>
            <a:extLst>
              <a:ext uri="{FF2B5EF4-FFF2-40B4-BE49-F238E27FC236}">
                <a16:creationId xmlns:a16="http://schemas.microsoft.com/office/drawing/2014/main" id="{64D8B7BB-8E01-67D7-0F97-D43FF8A17BFF}"/>
              </a:ext>
            </a:extLst>
          </p:cNvPr>
          <p:cNvSpPr txBox="1"/>
          <p:nvPr/>
        </p:nvSpPr>
        <p:spPr>
          <a:xfrm>
            <a:off x="985742" y="1455604"/>
            <a:ext cx="12612144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solidFill>
                  <a:srgbClr val="C03221"/>
                </a:solidFill>
                <a:latin typeface="DM Serif Display"/>
                <a:sym typeface="DM Serif Display"/>
              </a:rPr>
              <a:t>Jenkins Installation</a:t>
            </a:r>
            <a:endParaRPr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A045DF-9FD0-F06A-AA3E-B211674EE21D}"/>
              </a:ext>
            </a:extLst>
          </p:cNvPr>
          <p:cNvSpPr txBox="1"/>
          <p:nvPr/>
        </p:nvSpPr>
        <p:spPr>
          <a:xfrm>
            <a:off x="10952480" y="1239520"/>
            <a:ext cx="6187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https://www.jenkins.io/doc/book/installing/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FC6D8F-F5C7-F130-3C5C-177FF52A3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120" y="2703463"/>
            <a:ext cx="13597886" cy="720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886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74434A52-2878-BD88-4A41-C721D00D7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>
            <a:extLst>
              <a:ext uri="{FF2B5EF4-FFF2-40B4-BE49-F238E27FC236}">
                <a16:creationId xmlns:a16="http://schemas.microsoft.com/office/drawing/2014/main" id="{9A8B324E-DC0C-540F-0570-B948C73FDDC1}"/>
              </a:ext>
            </a:extLst>
          </p:cNvPr>
          <p:cNvSpPr txBox="1"/>
          <p:nvPr/>
        </p:nvSpPr>
        <p:spPr>
          <a:xfrm>
            <a:off x="985742" y="1455604"/>
            <a:ext cx="14701298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solidFill>
                  <a:srgbClr val="C03221"/>
                </a:solidFill>
                <a:latin typeface="DM Serif Display"/>
                <a:sym typeface="DM Serif Display"/>
              </a:rPr>
              <a:t>Build the Jenkins Image via Docker</a:t>
            </a:r>
            <a:endParaRPr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7B1EF4-36D6-4E50-0454-67A572AA9AE2}"/>
              </a:ext>
            </a:extLst>
          </p:cNvPr>
          <p:cNvSpPr txBox="1"/>
          <p:nvPr/>
        </p:nvSpPr>
        <p:spPr>
          <a:xfrm>
            <a:off x="985742" y="2976880"/>
            <a:ext cx="1442697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Git clone </a:t>
            </a:r>
            <a:r>
              <a:rPr lang="en-US" dirty="0">
                <a:hlinkClick r:id="rId3"/>
              </a:rPr>
              <a:t>https://github.com/yaseen-ghani/DSC_672_jenkins_demo</a:t>
            </a:r>
            <a:endParaRPr lang="en-US" dirty="0"/>
          </a:p>
          <a:p>
            <a:endParaRPr lang="en-US" dirty="0"/>
          </a:p>
          <a:p>
            <a:r>
              <a:rPr lang="en-US" dirty="0"/>
              <a:t>docker build -t myjenkins-blueocean:2.492.3-1 .</a:t>
            </a:r>
          </a:p>
          <a:p>
            <a:endParaRPr lang="en-US" dirty="0"/>
          </a:p>
          <a:p>
            <a:r>
              <a:rPr lang="en-US" dirty="0"/>
              <a:t>docker network create Jenkins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docker run --name </a:t>
            </a:r>
            <a:r>
              <a:rPr lang="en-US" dirty="0" err="1"/>
              <a:t>jenkins-blueocean</a:t>
            </a:r>
            <a:r>
              <a:rPr lang="en-US" dirty="0"/>
              <a:t> --restart=on-failure --detach `</a:t>
            </a:r>
          </a:p>
          <a:p>
            <a:r>
              <a:rPr lang="en-US" dirty="0"/>
              <a:t>  --network Jenkins --env DOCKER_HOST=tcp://docker:2376 `</a:t>
            </a:r>
          </a:p>
          <a:p>
            <a:r>
              <a:rPr lang="en-US" dirty="0"/>
              <a:t>  --env DOCKER_CERT_PATH=/certs/client --env DOCKER_TLS_VERIFY=1 `</a:t>
            </a:r>
          </a:p>
          <a:p>
            <a:r>
              <a:rPr lang="en-US" dirty="0"/>
              <a:t>  --volume </a:t>
            </a:r>
            <a:r>
              <a:rPr lang="en-US" dirty="0" err="1"/>
              <a:t>jenkins</a:t>
            </a:r>
            <a:r>
              <a:rPr lang="en-US" dirty="0"/>
              <a:t>-data:/var/</a:t>
            </a:r>
            <a:r>
              <a:rPr lang="en-US" dirty="0" err="1"/>
              <a:t>jenkins_home</a:t>
            </a:r>
            <a:r>
              <a:rPr lang="en-US" dirty="0"/>
              <a:t> `</a:t>
            </a:r>
          </a:p>
          <a:p>
            <a:r>
              <a:rPr lang="en-US" dirty="0"/>
              <a:t>  --volume </a:t>
            </a:r>
            <a:r>
              <a:rPr lang="en-US" dirty="0" err="1"/>
              <a:t>jenkins</a:t>
            </a:r>
            <a:r>
              <a:rPr lang="en-US" dirty="0"/>
              <a:t>-docker-certs:/certs/</a:t>
            </a:r>
            <a:r>
              <a:rPr lang="en-US" dirty="0" err="1"/>
              <a:t>client:ro</a:t>
            </a:r>
            <a:r>
              <a:rPr lang="en-US" dirty="0"/>
              <a:t> `</a:t>
            </a:r>
          </a:p>
          <a:p>
            <a:r>
              <a:rPr lang="en-US" dirty="0"/>
              <a:t>  --publish 8080:8080 --publish 50000:50000 myjenkins-blueocean:2.492.3-1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docker exec </a:t>
            </a:r>
            <a:r>
              <a:rPr lang="en-US" dirty="0" err="1"/>
              <a:t>jenkins-blueocean</a:t>
            </a:r>
            <a:r>
              <a:rPr lang="en-US" dirty="0"/>
              <a:t> cat /var/</a:t>
            </a:r>
            <a:r>
              <a:rPr lang="en-US" dirty="0" err="1"/>
              <a:t>jenkins_home</a:t>
            </a:r>
            <a:r>
              <a:rPr lang="en-US" dirty="0"/>
              <a:t>/secrets/</a:t>
            </a:r>
            <a:r>
              <a:rPr lang="en-US" dirty="0" err="1"/>
              <a:t>initialAdminPassword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Jenkins url: https://localhost:8080/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323206-BD69-BCA3-8D1B-01E0B69F3A78}"/>
              </a:ext>
            </a:extLst>
          </p:cNvPr>
          <p:cNvSpPr txBox="1"/>
          <p:nvPr/>
        </p:nvSpPr>
        <p:spPr>
          <a:xfrm>
            <a:off x="4572000" y="4988845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jenkins-blueocean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874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3D144486-42CF-BFEF-13C2-DF3B5D963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>
            <a:extLst>
              <a:ext uri="{FF2B5EF4-FFF2-40B4-BE49-F238E27FC236}">
                <a16:creationId xmlns:a16="http://schemas.microsoft.com/office/drawing/2014/main" id="{833853E7-D673-ED4C-5333-21963C88B65D}"/>
              </a:ext>
            </a:extLst>
          </p:cNvPr>
          <p:cNvSpPr txBox="1"/>
          <p:nvPr/>
        </p:nvSpPr>
        <p:spPr>
          <a:xfrm>
            <a:off x="985742" y="1455604"/>
            <a:ext cx="14701298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solidFill>
                  <a:srgbClr val="C03221"/>
                </a:solidFill>
                <a:latin typeface="DM Serif Display"/>
                <a:sym typeface="DM Serif Display"/>
              </a:rPr>
              <a:t>Docker Node Creation</a:t>
            </a:r>
            <a:endParaRPr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D4F17C-AB1B-5D24-2BF7-4943D79C8AFF}"/>
              </a:ext>
            </a:extLst>
          </p:cNvPr>
          <p:cNvSpPr txBox="1"/>
          <p:nvPr/>
        </p:nvSpPr>
        <p:spPr>
          <a:xfrm>
            <a:off x="985742" y="2976880"/>
            <a:ext cx="1442697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docker run -d --restart=always  --network Jenkins -p 2375:2375 -v /var/run/</a:t>
            </a:r>
            <a:r>
              <a:rPr lang="en-US" sz="2800" dirty="0" err="1"/>
              <a:t>docker.sock</a:t>
            </a:r>
            <a:r>
              <a:rPr lang="en-US" sz="2800" dirty="0"/>
              <a:t>:/var/run/</a:t>
            </a:r>
            <a:r>
              <a:rPr lang="en-US" sz="2800" dirty="0" err="1"/>
              <a:t>docker.sock</a:t>
            </a:r>
            <a:r>
              <a:rPr lang="en-US" sz="2800" dirty="0"/>
              <a:t> alpine/</a:t>
            </a:r>
            <a:r>
              <a:rPr lang="en-US" sz="2800" dirty="0" err="1"/>
              <a:t>socat</a:t>
            </a:r>
            <a:r>
              <a:rPr lang="en-US" sz="2800" dirty="0"/>
              <a:t> tcp-listen:2375,fork,reuseaddr </a:t>
            </a:r>
            <a:r>
              <a:rPr lang="en-US" sz="2800" dirty="0" err="1"/>
              <a:t>unix</a:t>
            </a:r>
            <a:r>
              <a:rPr lang="en-US" sz="2800" dirty="0"/>
              <a:t>-connect:/var/run/</a:t>
            </a:r>
            <a:r>
              <a:rPr lang="en-US" sz="2800" dirty="0" err="1"/>
              <a:t>docker.sock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docker </a:t>
            </a:r>
            <a:r>
              <a:rPr lang="en-US" sz="2800" dirty="0" err="1"/>
              <a:t>ps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docker inspect &lt;</a:t>
            </a:r>
            <a:r>
              <a:rPr lang="en-US" sz="2800" dirty="0" err="1"/>
              <a:t>container_id</a:t>
            </a:r>
            <a:r>
              <a:rPr lang="en-US" sz="2800" dirty="0"/>
              <a:t>&gt;</a:t>
            </a:r>
          </a:p>
          <a:p>
            <a:endParaRPr lang="en-US" sz="2800" dirty="0"/>
          </a:p>
          <a:p>
            <a:r>
              <a:rPr lang="en-US" sz="2800" dirty="0" err="1"/>
              <a:t>jenkins</a:t>
            </a:r>
            <a:r>
              <a:rPr lang="en-US" sz="2800" dirty="0"/>
              <a:t>/agent:alpine-jdk21</a:t>
            </a:r>
          </a:p>
        </p:txBody>
      </p:sp>
    </p:spTree>
    <p:extLst>
      <p:ext uri="{BB962C8B-B14F-4D97-AF65-F5344CB8AC3E}">
        <p14:creationId xmlns:p14="http://schemas.microsoft.com/office/powerpoint/2010/main" val="3206467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AE4B7B0A-8D40-040F-D8F7-7161011C0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>
            <a:extLst>
              <a:ext uri="{FF2B5EF4-FFF2-40B4-BE49-F238E27FC236}">
                <a16:creationId xmlns:a16="http://schemas.microsoft.com/office/drawing/2014/main" id="{DC142BB2-9E66-F068-A427-E7061DC654B4}"/>
              </a:ext>
            </a:extLst>
          </p:cNvPr>
          <p:cNvSpPr txBox="1"/>
          <p:nvPr/>
        </p:nvSpPr>
        <p:spPr>
          <a:xfrm>
            <a:off x="985742" y="1455604"/>
            <a:ext cx="14701298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solidFill>
                  <a:srgbClr val="C03221"/>
                </a:solidFill>
                <a:latin typeface="DM Serif Display"/>
                <a:sym typeface="DM Serif Display"/>
              </a:rPr>
              <a:t>Jenkins Pipeline</a:t>
            </a:r>
            <a:endParaRPr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222ECA-75C2-79B8-4334-295761F68D35}"/>
              </a:ext>
            </a:extLst>
          </p:cNvPr>
          <p:cNvSpPr txBox="1"/>
          <p:nvPr/>
        </p:nvSpPr>
        <p:spPr>
          <a:xfrm>
            <a:off x="985742" y="2976880"/>
            <a:ext cx="14426978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pipeline {</a:t>
            </a:r>
          </a:p>
          <a:p>
            <a:r>
              <a:rPr lang="en-US" sz="1200" dirty="0"/>
              <a:t>    agent { </a:t>
            </a:r>
          </a:p>
          <a:p>
            <a:r>
              <a:rPr lang="en-US" sz="1200" dirty="0"/>
              <a:t>        node {</a:t>
            </a:r>
          </a:p>
          <a:p>
            <a:r>
              <a:rPr lang="en-US" sz="1200" dirty="0"/>
              <a:t>            label 'docker-alpine'</a:t>
            </a:r>
          </a:p>
          <a:p>
            <a:r>
              <a:rPr lang="en-US" sz="1200" dirty="0"/>
              <a:t>            }</a:t>
            </a:r>
          </a:p>
          <a:p>
            <a:r>
              <a:rPr lang="en-US" sz="1200" dirty="0"/>
              <a:t>      }</a:t>
            </a:r>
          </a:p>
          <a:p>
            <a:r>
              <a:rPr lang="en-US" sz="1200" dirty="0"/>
              <a:t>    triggers {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pollSCM</a:t>
            </a:r>
            <a:r>
              <a:rPr lang="en-US" sz="1200" dirty="0"/>
              <a:t> '* * * * *'</a:t>
            </a:r>
          </a:p>
          <a:p>
            <a:r>
              <a:rPr lang="en-US" sz="1200" dirty="0"/>
              <a:t>    }</a:t>
            </a:r>
          </a:p>
          <a:p>
            <a:r>
              <a:rPr lang="en-US" sz="1200" dirty="0"/>
              <a:t>    stages {</a:t>
            </a:r>
          </a:p>
          <a:p>
            <a:r>
              <a:rPr lang="en-US" sz="1200" dirty="0"/>
              <a:t>        stage('Build') {</a:t>
            </a:r>
          </a:p>
          <a:p>
            <a:r>
              <a:rPr lang="en-US" sz="1200" dirty="0"/>
              <a:t>            steps {</a:t>
            </a:r>
          </a:p>
          <a:p>
            <a:r>
              <a:rPr lang="en-US" sz="1200" dirty="0"/>
              <a:t>                echo "Building.."</a:t>
            </a:r>
          </a:p>
          <a:p>
            <a:r>
              <a:rPr lang="en-US" sz="1200" dirty="0"/>
              <a:t>                </a:t>
            </a:r>
            <a:r>
              <a:rPr lang="en-US" sz="1200" dirty="0" err="1"/>
              <a:t>sh</a:t>
            </a:r>
            <a:r>
              <a:rPr lang="en-US" sz="1200" dirty="0"/>
              <a:t> '''</a:t>
            </a:r>
          </a:p>
          <a:p>
            <a:r>
              <a:rPr lang="en-US" sz="1200" dirty="0"/>
              <a:t>                echo "doing building stuff.."</a:t>
            </a:r>
          </a:p>
          <a:p>
            <a:r>
              <a:rPr lang="en-US" sz="1200" dirty="0"/>
              <a:t>                '''</a:t>
            </a:r>
          </a:p>
          <a:p>
            <a:r>
              <a:rPr lang="en-US" sz="1200" dirty="0"/>
              <a:t>            }</a:t>
            </a:r>
          </a:p>
          <a:p>
            <a:r>
              <a:rPr lang="en-US" sz="1200" dirty="0"/>
              <a:t>        }</a:t>
            </a:r>
          </a:p>
          <a:p>
            <a:r>
              <a:rPr lang="en-US" sz="1200" dirty="0"/>
              <a:t>        stage('Test') {</a:t>
            </a:r>
          </a:p>
          <a:p>
            <a:r>
              <a:rPr lang="en-US" sz="1200" dirty="0"/>
              <a:t>            steps {</a:t>
            </a:r>
          </a:p>
          <a:p>
            <a:r>
              <a:rPr lang="en-US" sz="1200" dirty="0"/>
              <a:t>                echo "Testing.."</a:t>
            </a:r>
          </a:p>
          <a:p>
            <a:r>
              <a:rPr lang="en-US" sz="1200" dirty="0"/>
              <a:t>                </a:t>
            </a:r>
            <a:r>
              <a:rPr lang="en-US" sz="1200" dirty="0" err="1"/>
              <a:t>sh</a:t>
            </a:r>
            <a:r>
              <a:rPr lang="en-US" sz="1200" dirty="0"/>
              <a:t> '''</a:t>
            </a:r>
          </a:p>
          <a:p>
            <a:r>
              <a:rPr lang="en-US" sz="1200" dirty="0"/>
              <a:t>                echo "doing testing stuff.."</a:t>
            </a:r>
          </a:p>
          <a:p>
            <a:r>
              <a:rPr lang="en-US" sz="1200" dirty="0"/>
              <a:t>                '''</a:t>
            </a:r>
          </a:p>
          <a:p>
            <a:r>
              <a:rPr lang="en-US" sz="1200" dirty="0"/>
              <a:t>            }</a:t>
            </a:r>
          </a:p>
          <a:p>
            <a:r>
              <a:rPr lang="en-US" sz="1200" dirty="0"/>
              <a:t>        }</a:t>
            </a:r>
          </a:p>
          <a:p>
            <a:r>
              <a:rPr lang="en-US" sz="1200" dirty="0"/>
              <a:t>        stage('Deliver') {</a:t>
            </a:r>
          </a:p>
          <a:p>
            <a:r>
              <a:rPr lang="en-US" sz="1200" dirty="0"/>
              <a:t>            steps {</a:t>
            </a:r>
          </a:p>
          <a:p>
            <a:r>
              <a:rPr lang="en-US" sz="1200" dirty="0"/>
              <a:t>                echo 'Deliver....'</a:t>
            </a:r>
          </a:p>
          <a:p>
            <a:r>
              <a:rPr lang="en-US" sz="1200" dirty="0"/>
              <a:t>                </a:t>
            </a:r>
            <a:r>
              <a:rPr lang="en-US" sz="1200" dirty="0" err="1"/>
              <a:t>sh</a:t>
            </a:r>
            <a:r>
              <a:rPr lang="en-US" sz="1200" dirty="0"/>
              <a:t> '''</a:t>
            </a:r>
          </a:p>
          <a:p>
            <a:r>
              <a:rPr lang="en-US" sz="1200" dirty="0"/>
              <a:t>                echo "doing delivery stuff.."</a:t>
            </a:r>
          </a:p>
          <a:p>
            <a:r>
              <a:rPr lang="en-US" sz="1200" dirty="0"/>
              <a:t>                '''</a:t>
            </a:r>
          </a:p>
          <a:p>
            <a:r>
              <a:rPr lang="en-US" sz="1200" dirty="0"/>
              <a:t>            }</a:t>
            </a:r>
          </a:p>
          <a:p>
            <a:r>
              <a:rPr lang="en-US" sz="1200" dirty="0"/>
              <a:t>        }</a:t>
            </a:r>
          </a:p>
          <a:p>
            <a:r>
              <a:rPr lang="en-US" sz="1200" dirty="0"/>
              <a:t>    }</a:t>
            </a:r>
          </a:p>
          <a:p>
            <a:r>
              <a:rPr lang="en-US" sz="1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27221414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 White Slide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1102</TotalTime>
  <Words>496</Words>
  <Application>Microsoft Office PowerPoint</Application>
  <PresentationFormat>Custom</PresentationFormat>
  <Paragraphs>91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DM Serif Display</vt:lpstr>
      <vt:lpstr>Arial</vt:lpstr>
      <vt:lpstr>Calibri</vt:lpstr>
      <vt:lpstr>Minimal White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Yaseen Ghani</dc:creator>
  <cp:lastModifiedBy>Yaseen Ghani</cp:lastModifiedBy>
  <cp:revision>10</cp:revision>
  <dcterms:modified xsi:type="dcterms:W3CDTF">2025-05-01T01:23:17Z</dcterms:modified>
</cp:coreProperties>
</file>